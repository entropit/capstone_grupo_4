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NEcnPfEYphYBzcOeFftONDcvO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CenturyGothic-bold.fntdata"/><Relationship Id="rId21" Type="http://schemas.openxmlformats.org/officeDocument/2006/relationships/font" Target="fonts/CenturyGothic-regular.fntdata"/><Relationship Id="rId24" Type="http://schemas.openxmlformats.org/officeDocument/2006/relationships/font" Target="fonts/CenturyGothic-boldItalic.fntdata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35041aa2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a35041aa2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34dd9a60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34dd9a6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36a075c3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a36a075c3b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36a075c3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a36a075c3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36a075c3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a36a075c3b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35041aa2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3a35041aa21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ctrTitle"/>
          </p:nvPr>
        </p:nvSpPr>
        <p:spPr>
          <a:xfrm>
            <a:off x="3302770" y="277090"/>
            <a:ext cx="5597236" cy="39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  <a:defRPr b="1" sz="8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" type="subTitle"/>
          </p:nvPr>
        </p:nvSpPr>
        <p:spPr>
          <a:xfrm>
            <a:off x="3310078" y="4742512"/>
            <a:ext cx="5597236" cy="969818"/>
          </a:xfrm>
          <a:prstGeom prst="rect">
            <a:avLst/>
          </a:prstGeom>
          <a:solidFill>
            <a:srgbClr val="171616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17" name="Google Shape;17;p22"/>
          <p:cNvCxnSpPr/>
          <p:nvPr/>
        </p:nvCxnSpPr>
        <p:spPr>
          <a:xfrm>
            <a:off x="3286986" y="5917767"/>
            <a:ext cx="5645727" cy="27709"/>
          </a:xfrm>
          <a:prstGeom prst="straightConnector1">
            <a:avLst/>
          </a:prstGeom>
          <a:noFill/>
          <a:ln cap="flat" cmpd="sng" w="53975">
            <a:solidFill>
              <a:schemeClr val="dk1">
                <a:alpha val="49411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>
            <a:reflection blurRad="0" dir="5400000" dist="50800" endA="0" endPos="2000" kx="0" rotWithShape="0" algn="bl" stA="45000" stPos="0" sy="-100000" ky="0"/>
          </a:effectLst>
        </p:spPr>
      </p:cxnSp>
      <p:cxnSp>
        <p:nvCxnSpPr>
          <p:cNvPr id="18" name="Google Shape;18;p22"/>
          <p:cNvCxnSpPr/>
          <p:nvPr/>
        </p:nvCxnSpPr>
        <p:spPr>
          <a:xfrm flipH="1" rot="10800000">
            <a:off x="3313737" y="4536345"/>
            <a:ext cx="5572991" cy="487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" name="Google Shape;19;p22"/>
          <p:cNvCxnSpPr/>
          <p:nvPr/>
        </p:nvCxnSpPr>
        <p:spPr>
          <a:xfrm flipH="1" rot="10800000">
            <a:off x="3306421" y="4656932"/>
            <a:ext cx="5572991" cy="487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0" name="Google Shape;20;p22"/>
          <p:cNvGrpSpPr/>
          <p:nvPr/>
        </p:nvGrpSpPr>
        <p:grpSpPr>
          <a:xfrm>
            <a:off x="10252340" y="2199565"/>
            <a:ext cx="1533277" cy="432000"/>
            <a:chOff x="10252340" y="2199565"/>
            <a:chExt cx="1533277" cy="432000"/>
          </a:xfrm>
        </p:grpSpPr>
        <p:sp>
          <p:nvSpPr>
            <p:cNvPr id="21" name="Google Shape;21;p22"/>
            <p:cNvSpPr/>
            <p:nvPr/>
          </p:nvSpPr>
          <p:spPr>
            <a:xfrm>
              <a:off x="10756046" y="2253564"/>
              <a:ext cx="324000" cy="32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2"/>
            <p:cNvSpPr/>
            <p:nvPr/>
          </p:nvSpPr>
          <p:spPr>
            <a:xfrm>
              <a:off x="10252340" y="2297802"/>
              <a:ext cx="232063" cy="2355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2"/>
            <p:cNvSpPr/>
            <p:nvPr/>
          </p:nvSpPr>
          <p:spPr>
            <a:xfrm>
              <a:off x="11353617" y="2199565"/>
              <a:ext cx="432000" cy="43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24;p22"/>
          <p:cNvGrpSpPr/>
          <p:nvPr/>
        </p:nvGrpSpPr>
        <p:grpSpPr>
          <a:xfrm>
            <a:off x="420245" y="2200420"/>
            <a:ext cx="1539618" cy="432000"/>
            <a:chOff x="420245" y="2200420"/>
            <a:chExt cx="1539618" cy="432000"/>
          </a:xfrm>
        </p:grpSpPr>
        <p:sp>
          <p:nvSpPr>
            <p:cNvPr id="25" name="Google Shape;25;p22"/>
            <p:cNvSpPr/>
            <p:nvPr/>
          </p:nvSpPr>
          <p:spPr>
            <a:xfrm>
              <a:off x="420245" y="2200420"/>
              <a:ext cx="432000" cy="43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2"/>
            <p:cNvSpPr/>
            <p:nvPr/>
          </p:nvSpPr>
          <p:spPr>
            <a:xfrm>
              <a:off x="1131392" y="2248776"/>
              <a:ext cx="324000" cy="32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2"/>
            <p:cNvSpPr/>
            <p:nvPr/>
          </p:nvSpPr>
          <p:spPr>
            <a:xfrm>
              <a:off x="1727800" y="2293014"/>
              <a:ext cx="232063" cy="2355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29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>
  <p:cSld name="Título y conteni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1075256" y="365124"/>
            <a:ext cx="10049943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6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33" name="Google Shape;33;p23"/>
          <p:cNvCxnSpPr/>
          <p:nvPr/>
        </p:nvCxnSpPr>
        <p:spPr>
          <a:xfrm>
            <a:off x="692705" y="365125"/>
            <a:ext cx="0" cy="1759097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" name="Google Shape;34;p23"/>
          <p:cNvCxnSpPr/>
          <p:nvPr/>
        </p:nvCxnSpPr>
        <p:spPr>
          <a:xfrm>
            <a:off x="11501658" y="365125"/>
            <a:ext cx="0" cy="1759097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23"/>
          <p:cNvSpPr/>
          <p:nvPr/>
        </p:nvSpPr>
        <p:spPr>
          <a:xfrm>
            <a:off x="0" y="6246055"/>
            <a:ext cx="12192000" cy="611945"/>
          </a:xfrm>
          <a:prstGeom prst="rect">
            <a:avLst/>
          </a:prstGeom>
          <a:solidFill>
            <a:schemeClr val="dk1">
              <a:alpha val="3450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1066803" y="1690688"/>
            <a:ext cx="10051200" cy="4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Encabezado de secció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576775" y="2301877"/>
            <a:ext cx="7345079" cy="138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DF7"/>
              </a:buClr>
              <a:buSzPts val="6000"/>
              <a:buFont typeface="Century Gothic"/>
              <a:buNone/>
              <a:defRPr sz="6000">
                <a:solidFill>
                  <a:srgbClr val="008DF7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2" name="Google Shape;42;p24"/>
          <p:cNvSpPr/>
          <p:nvPr/>
        </p:nvSpPr>
        <p:spPr>
          <a:xfrm>
            <a:off x="572281" y="3692525"/>
            <a:ext cx="5036234" cy="781001"/>
          </a:xfrm>
          <a:prstGeom prst="rect">
            <a:avLst/>
          </a:prstGeom>
          <a:solidFill>
            <a:srgbClr val="00477C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576775" y="3692525"/>
            <a:ext cx="5031740" cy="781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4" name="Google Shape;44;p24"/>
          <p:cNvCxnSpPr/>
          <p:nvPr/>
        </p:nvCxnSpPr>
        <p:spPr>
          <a:xfrm>
            <a:off x="325371" y="2292449"/>
            <a:ext cx="4567" cy="2171650"/>
          </a:xfrm>
          <a:prstGeom prst="straightConnector1">
            <a:avLst/>
          </a:prstGeom>
          <a:noFill/>
          <a:ln cap="flat" cmpd="sng" w="53975">
            <a:solidFill>
              <a:srgbClr val="008D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5" name="Google Shape;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610" y="2294351"/>
            <a:ext cx="4248000" cy="13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 de contenido">
  <p:cSld name="Dos objetos de conteni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671"/>
            <a:ext cx="12192000" cy="257438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5"/>
          <p:cNvSpPr txBox="1"/>
          <p:nvPr>
            <p:ph type="title"/>
          </p:nvPr>
        </p:nvSpPr>
        <p:spPr>
          <a:xfrm>
            <a:off x="2062573" y="239082"/>
            <a:ext cx="807485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6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2" name="Google Shape;52;p25"/>
          <p:cNvSpPr/>
          <p:nvPr/>
        </p:nvSpPr>
        <p:spPr>
          <a:xfrm>
            <a:off x="3369" y="1913207"/>
            <a:ext cx="12193200" cy="661182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5"/>
          <p:cNvSpPr txBox="1"/>
          <p:nvPr>
            <p:ph idx="1" type="body"/>
          </p:nvPr>
        </p:nvSpPr>
        <p:spPr>
          <a:xfrm>
            <a:off x="762216" y="1912938"/>
            <a:ext cx="4899025" cy="661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2" type="body"/>
          </p:nvPr>
        </p:nvSpPr>
        <p:spPr>
          <a:xfrm>
            <a:off x="6570349" y="1912938"/>
            <a:ext cx="4899600" cy="661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3" type="body"/>
          </p:nvPr>
        </p:nvSpPr>
        <p:spPr>
          <a:xfrm>
            <a:off x="762216" y="2710353"/>
            <a:ext cx="4899600" cy="3532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77C"/>
              </a:buClr>
              <a:buSzPts val="2800"/>
              <a:buNone/>
              <a:defRPr>
                <a:solidFill>
                  <a:srgbClr val="00477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4" type="body"/>
          </p:nvPr>
        </p:nvSpPr>
        <p:spPr>
          <a:xfrm>
            <a:off x="6571845" y="2727697"/>
            <a:ext cx="4899600" cy="3532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77C"/>
              </a:buClr>
              <a:buSzPts val="2800"/>
              <a:buNone/>
              <a:defRPr>
                <a:solidFill>
                  <a:srgbClr val="00477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5"/>
          <p:cNvSpPr/>
          <p:nvPr/>
        </p:nvSpPr>
        <p:spPr>
          <a:xfrm>
            <a:off x="6024000" y="1920229"/>
            <a:ext cx="144000" cy="144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5"/>
          <p:cNvSpPr/>
          <p:nvPr/>
        </p:nvSpPr>
        <p:spPr>
          <a:xfrm>
            <a:off x="6024000" y="2148959"/>
            <a:ext cx="144000" cy="144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5"/>
          <p:cNvSpPr/>
          <p:nvPr/>
        </p:nvSpPr>
        <p:spPr>
          <a:xfrm>
            <a:off x="6024000" y="2361678"/>
            <a:ext cx="144000" cy="144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" name="Google Shape;60;p25"/>
          <p:cNvGrpSpPr/>
          <p:nvPr/>
        </p:nvGrpSpPr>
        <p:grpSpPr>
          <a:xfrm>
            <a:off x="10252340" y="700695"/>
            <a:ext cx="1533277" cy="432000"/>
            <a:chOff x="10252340" y="2199565"/>
            <a:chExt cx="1533277" cy="432000"/>
          </a:xfrm>
        </p:grpSpPr>
        <p:sp>
          <p:nvSpPr>
            <p:cNvPr id="61" name="Google Shape;61;p25"/>
            <p:cNvSpPr/>
            <p:nvPr/>
          </p:nvSpPr>
          <p:spPr>
            <a:xfrm>
              <a:off x="10756046" y="2253564"/>
              <a:ext cx="324000" cy="32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5"/>
            <p:cNvSpPr/>
            <p:nvPr/>
          </p:nvSpPr>
          <p:spPr>
            <a:xfrm>
              <a:off x="10252340" y="2297802"/>
              <a:ext cx="232063" cy="2355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5"/>
            <p:cNvSpPr/>
            <p:nvPr/>
          </p:nvSpPr>
          <p:spPr>
            <a:xfrm>
              <a:off x="11353617" y="2199565"/>
              <a:ext cx="432000" cy="43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" name="Google Shape;64;p25"/>
          <p:cNvGrpSpPr/>
          <p:nvPr/>
        </p:nvGrpSpPr>
        <p:grpSpPr>
          <a:xfrm>
            <a:off x="420245" y="710978"/>
            <a:ext cx="1539618" cy="432000"/>
            <a:chOff x="420245" y="2200420"/>
            <a:chExt cx="1539618" cy="432000"/>
          </a:xfrm>
        </p:grpSpPr>
        <p:sp>
          <p:nvSpPr>
            <p:cNvPr id="65" name="Google Shape;65;p25"/>
            <p:cNvSpPr/>
            <p:nvPr/>
          </p:nvSpPr>
          <p:spPr>
            <a:xfrm>
              <a:off x="420245" y="2200420"/>
              <a:ext cx="432000" cy="43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5"/>
            <p:cNvSpPr/>
            <p:nvPr/>
          </p:nvSpPr>
          <p:spPr>
            <a:xfrm>
              <a:off x="1131392" y="2248776"/>
              <a:ext cx="324000" cy="32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5"/>
            <p:cNvSpPr/>
            <p:nvPr/>
          </p:nvSpPr>
          <p:spPr>
            <a:xfrm>
              <a:off x="1727800" y="2293014"/>
              <a:ext cx="232063" cy="2355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8" name="Google Shape;68;p25"/>
          <p:cNvCxnSpPr/>
          <p:nvPr/>
        </p:nvCxnSpPr>
        <p:spPr>
          <a:xfrm>
            <a:off x="6096000" y="2605145"/>
            <a:ext cx="0" cy="3672000"/>
          </a:xfrm>
          <a:prstGeom prst="straightConnector1">
            <a:avLst/>
          </a:prstGeom>
          <a:noFill/>
          <a:ln cap="flat" cmpd="sng" w="381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56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9" y="0"/>
            <a:ext cx="12193200" cy="256134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6"/>
          <p:cNvSpPr txBox="1"/>
          <p:nvPr>
            <p:ph type="title"/>
          </p:nvPr>
        </p:nvSpPr>
        <p:spPr>
          <a:xfrm>
            <a:off x="2072000" y="239082"/>
            <a:ext cx="807485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6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5" name="Google Shape;75;p26"/>
          <p:cNvSpPr/>
          <p:nvPr/>
        </p:nvSpPr>
        <p:spPr>
          <a:xfrm>
            <a:off x="3369" y="1913207"/>
            <a:ext cx="12193200" cy="661182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>
            <a:off x="769467" y="1921601"/>
            <a:ext cx="4899025" cy="639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2" type="body"/>
          </p:nvPr>
        </p:nvSpPr>
        <p:spPr>
          <a:xfrm>
            <a:off x="6561608" y="1913509"/>
            <a:ext cx="48996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3" type="body"/>
          </p:nvPr>
        </p:nvSpPr>
        <p:spPr>
          <a:xfrm>
            <a:off x="763588" y="3342411"/>
            <a:ext cx="4899600" cy="2934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77C"/>
              </a:buClr>
              <a:buSzPts val="2800"/>
              <a:buNone/>
              <a:defRPr>
                <a:solidFill>
                  <a:srgbClr val="00477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4" type="body"/>
          </p:nvPr>
        </p:nvSpPr>
        <p:spPr>
          <a:xfrm>
            <a:off x="6571133" y="3333752"/>
            <a:ext cx="4899600" cy="29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77C"/>
              </a:buClr>
              <a:buSzPts val="2800"/>
              <a:buNone/>
              <a:defRPr>
                <a:solidFill>
                  <a:srgbClr val="00477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6"/>
          <p:cNvSpPr/>
          <p:nvPr/>
        </p:nvSpPr>
        <p:spPr>
          <a:xfrm>
            <a:off x="6024000" y="1920229"/>
            <a:ext cx="144000" cy="144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6"/>
          <p:cNvSpPr/>
          <p:nvPr/>
        </p:nvSpPr>
        <p:spPr>
          <a:xfrm>
            <a:off x="6024000" y="2148959"/>
            <a:ext cx="144000" cy="144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6"/>
          <p:cNvSpPr/>
          <p:nvPr/>
        </p:nvSpPr>
        <p:spPr>
          <a:xfrm>
            <a:off x="6024000" y="2361678"/>
            <a:ext cx="144000" cy="144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6"/>
          <p:cNvSpPr/>
          <p:nvPr/>
        </p:nvSpPr>
        <p:spPr>
          <a:xfrm>
            <a:off x="766520" y="2647451"/>
            <a:ext cx="4899026" cy="579600"/>
          </a:xfrm>
          <a:prstGeom prst="roundRect">
            <a:avLst>
              <a:gd fmla="val 16667" name="adj"/>
            </a:avLst>
          </a:prstGeom>
          <a:solidFill>
            <a:srgbClr val="00477C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6"/>
          <p:cNvSpPr/>
          <p:nvPr/>
        </p:nvSpPr>
        <p:spPr>
          <a:xfrm>
            <a:off x="6553589" y="2645894"/>
            <a:ext cx="4899600" cy="578253"/>
          </a:xfrm>
          <a:prstGeom prst="roundRect">
            <a:avLst>
              <a:gd fmla="val 16667" name="adj"/>
            </a:avLst>
          </a:prstGeom>
          <a:solidFill>
            <a:srgbClr val="00477C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6"/>
          <p:cNvSpPr txBox="1"/>
          <p:nvPr>
            <p:ph idx="5" type="body"/>
          </p:nvPr>
        </p:nvSpPr>
        <p:spPr>
          <a:xfrm>
            <a:off x="765962" y="2648536"/>
            <a:ext cx="4899025" cy="575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6" type="body"/>
          </p:nvPr>
        </p:nvSpPr>
        <p:spPr>
          <a:xfrm>
            <a:off x="6564555" y="2647450"/>
            <a:ext cx="4899025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87" name="Google Shape;87;p26"/>
          <p:cNvGrpSpPr/>
          <p:nvPr/>
        </p:nvGrpSpPr>
        <p:grpSpPr>
          <a:xfrm>
            <a:off x="10252340" y="700695"/>
            <a:ext cx="1533277" cy="432000"/>
            <a:chOff x="10252340" y="2199565"/>
            <a:chExt cx="1533277" cy="432000"/>
          </a:xfrm>
        </p:grpSpPr>
        <p:sp>
          <p:nvSpPr>
            <p:cNvPr id="88" name="Google Shape;88;p26"/>
            <p:cNvSpPr/>
            <p:nvPr/>
          </p:nvSpPr>
          <p:spPr>
            <a:xfrm>
              <a:off x="10756046" y="2253564"/>
              <a:ext cx="324000" cy="32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6"/>
            <p:cNvSpPr/>
            <p:nvPr/>
          </p:nvSpPr>
          <p:spPr>
            <a:xfrm>
              <a:off x="10252340" y="2297802"/>
              <a:ext cx="232063" cy="2355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6"/>
            <p:cNvSpPr/>
            <p:nvPr/>
          </p:nvSpPr>
          <p:spPr>
            <a:xfrm>
              <a:off x="11353617" y="2199565"/>
              <a:ext cx="432000" cy="43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26"/>
          <p:cNvGrpSpPr/>
          <p:nvPr/>
        </p:nvGrpSpPr>
        <p:grpSpPr>
          <a:xfrm>
            <a:off x="420245" y="710978"/>
            <a:ext cx="1539618" cy="432000"/>
            <a:chOff x="420245" y="2200420"/>
            <a:chExt cx="1539618" cy="432000"/>
          </a:xfrm>
        </p:grpSpPr>
        <p:sp>
          <p:nvSpPr>
            <p:cNvPr id="92" name="Google Shape;92;p26"/>
            <p:cNvSpPr/>
            <p:nvPr/>
          </p:nvSpPr>
          <p:spPr>
            <a:xfrm>
              <a:off x="420245" y="2200420"/>
              <a:ext cx="432000" cy="43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6"/>
            <p:cNvSpPr/>
            <p:nvPr/>
          </p:nvSpPr>
          <p:spPr>
            <a:xfrm>
              <a:off x="1131392" y="2248776"/>
              <a:ext cx="324000" cy="32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6"/>
            <p:cNvSpPr/>
            <p:nvPr/>
          </p:nvSpPr>
          <p:spPr>
            <a:xfrm>
              <a:off x="1727800" y="2293014"/>
              <a:ext cx="232063" cy="2355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5" name="Google Shape;95;p26"/>
          <p:cNvCxnSpPr/>
          <p:nvPr/>
        </p:nvCxnSpPr>
        <p:spPr>
          <a:xfrm>
            <a:off x="6096000" y="2605145"/>
            <a:ext cx="0" cy="3672000"/>
          </a:xfrm>
          <a:prstGeom prst="straightConnector1">
            <a:avLst/>
          </a:prstGeom>
          <a:noFill/>
          <a:ln cap="flat" cmpd="sng" w="381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cxnSp>
    </p:spTree>
  </p:cSld>
  <p:clrMapOvr>
    <a:masterClrMapping/>
  </p:clrMapOvr>
  <p:extLst>
    <p:ext uri="{DCECCB84-F9BA-43D5-87BE-67443E8EF086}">
      <p15:sldGuideLst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038905"/>
            <a:ext cx="12192000" cy="4818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689"/>
            <a:ext cx="12192000" cy="202243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7C"/>
              </a:buClr>
              <a:buSzPts val="6000"/>
              <a:buFont typeface="Century Gothic"/>
              <a:buNone/>
              <a:defRPr sz="6000">
                <a:solidFill>
                  <a:srgbClr val="00477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6" y="3841423"/>
            <a:ext cx="3323734" cy="3016577"/>
          </a:xfrm>
          <a:prstGeom prst="rtTriangle">
            <a:avLst/>
          </a:prstGeom>
          <a:noFill/>
          <a:ln>
            <a:noFill/>
          </a:ln>
        </p:spPr>
      </p:pic>
      <p:pic>
        <p:nvPicPr>
          <p:cNvPr id="105" name="Google Shape;1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868266" y="0"/>
            <a:ext cx="3323734" cy="3016577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06" name="Google Shape;10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leyenda">
  <p:cSld name="Contenido con ley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72598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9"/>
          <p:cNvSpPr txBox="1"/>
          <p:nvPr>
            <p:ph idx="1" type="body"/>
          </p:nvPr>
        </p:nvSpPr>
        <p:spPr>
          <a:xfrm>
            <a:off x="5386099" y="297512"/>
            <a:ext cx="6514956" cy="6058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77C"/>
              </a:buClr>
              <a:buSzPts val="3000"/>
              <a:buNone/>
              <a:defRPr sz="3000">
                <a:solidFill>
                  <a:srgbClr val="00477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2" name="Google Shape;1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5" name="Google Shape;115;p29"/>
          <p:cNvSpPr/>
          <p:nvPr/>
        </p:nvSpPr>
        <p:spPr>
          <a:xfrm>
            <a:off x="0" y="0"/>
            <a:ext cx="4702311" cy="2363788"/>
          </a:xfrm>
          <a:prstGeom prst="rect">
            <a:avLst/>
          </a:prstGeom>
          <a:solidFill>
            <a:schemeClr val="dk1">
              <a:alpha val="3450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9"/>
          <p:cNvSpPr txBox="1"/>
          <p:nvPr>
            <p:ph type="title"/>
          </p:nvPr>
        </p:nvSpPr>
        <p:spPr>
          <a:xfrm>
            <a:off x="236464" y="268936"/>
            <a:ext cx="4142509" cy="1920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  <a:defRPr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9"/>
          <p:cNvSpPr/>
          <p:nvPr/>
        </p:nvSpPr>
        <p:spPr>
          <a:xfrm>
            <a:off x="243320" y="2461251"/>
            <a:ext cx="4142509" cy="75348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9"/>
          <p:cNvSpPr txBox="1"/>
          <p:nvPr>
            <p:ph idx="2" type="body"/>
          </p:nvPr>
        </p:nvSpPr>
        <p:spPr>
          <a:xfrm>
            <a:off x="245989" y="2461250"/>
            <a:ext cx="4143600" cy="753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77C"/>
              </a:buClr>
              <a:buSzPts val="3000"/>
              <a:buNone/>
              <a:defRPr sz="3000">
                <a:solidFill>
                  <a:srgbClr val="00477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9" name="Google Shape;119;p29"/>
          <p:cNvSpPr txBox="1"/>
          <p:nvPr>
            <p:ph idx="3" type="body"/>
          </p:nvPr>
        </p:nvSpPr>
        <p:spPr>
          <a:xfrm>
            <a:off x="261938" y="3400425"/>
            <a:ext cx="4100400" cy="295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1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leyenda">
  <p:cSld name="Imagen con ley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72598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0"/>
          <p:cNvSpPr/>
          <p:nvPr/>
        </p:nvSpPr>
        <p:spPr>
          <a:xfrm>
            <a:off x="0" y="0"/>
            <a:ext cx="4702311" cy="2363788"/>
          </a:xfrm>
          <a:prstGeom prst="rect">
            <a:avLst/>
          </a:prstGeom>
          <a:solidFill>
            <a:schemeClr val="dk1">
              <a:alpha val="3450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0"/>
          <p:cNvSpPr txBox="1"/>
          <p:nvPr>
            <p:ph type="title"/>
          </p:nvPr>
        </p:nvSpPr>
        <p:spPr>
          <a:xfrm>
            <a:off x="236464" y="268936"/>
            <a:ext cx="4142509" cy="1920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  <a:defRPr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7" name="Google Shape;127;p30"/>
          <p:cNvSpPr/>
          <p:nvPr/>
        </p:nvSpPr>
        <p:spPr>
          <a:xfrm>
            <a:off x="243320" y="2461251"/>
            <a:ext cx="4142509" cy="75348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0"/>
          <p:cNvSpPr txBox="1"/>
          <p:nvPr>
            <p:ph idx="1" type="body"/>
          </p:nvPr>
        </p:nvSpPr>
        <p:spPr>
          <a:xfrm>
            <a:off x="245989" y="2461250"/>
            <a:ext cx="4143600" cy="753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77C"/>
              </a:buClr>
              <a:buSzPts val="3000"/>
              <a:buNone/>
              <a:defRPr sz="3000">
                <a:solidFill>
                  <a:srgbClr val="00477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9" name="Google Shape;129;p30"/>
          <p:cNvSpPr txBox="1"/>
          <p:nvPr>
            <p:ph idx="2" type="body"/>
          </p:nvPr>
        </p:nvSpPr>
        <p:spPr>
          <a:xfrm>
            <a:off x="261938" y="3400425"/>
            <a:ext cx="4100400" cy="295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0"/>
          <p:cNvSpPr/>
          <p:nvPr>
            <p:ph idx="3" type="pic"/>
          </p:nvPr>
        </p:nvSpPr>
        <p:spPr>
          <a:xfrm>
            <a:off x="5426075" y="297511"/>
            <a:ext cx="6461126" cy="605883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145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>
  <p:cSld name="Título y texto vertic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type="title"/>
          </p:nvPr>
        </p:nvSpPr>
        <p:spPr>
          <a:xfrm>
            <a:off x="838200" y="365125"/>
            <a:ext cx="95726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4400"/>
              <a:buFont typeface="Century Gothic"/>
              <a:buNone/>
              <a:defRPr strike="noStrike">
                <a:solidFill>
                  <a:srgbClr val="E2E2E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136" name="Google Shape;136;p31"/>
          <p:cNvCxnSpPr/>
          <p:nvPr/>
        </p:nvCxnSpPr>
        <p:spPr>
          <a:xfrm>
            <a:off x="838200" y="360217"/>
            <a:ext cx="0" cy="1368000"/>
          </a:xfrm>
          <a:prstGeom prst="straightConnector1">
            <a:avLst/>
          </a:prstGeom>
          <a:noFill/>
          <a:ln cap="flat" cmpd="sng" w="50800">
            <a:solidFill>
              <a:srgbClr val="E2E2E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31"/>
          <p:cNvCxnSpPr/>
          <p:nvPr/>
        </p:nvCxnSpPr>
        <p:spPr>
          <a:xfrm flipH="1" rot="10800000">
            <a:off x="819149" y="1690255"/>
            <a:ext cx="9612000" cy="27926"/>
          </a:xfrm>
          <a:prstGeom prst="straightConnector1">
            <a:avLst/>
          </a:prstGeom>
          <a:noFill/>
          <a:ln cap="flat" cmpd="sng" w="50800">
            <a:solidFill>
              <a:srgbClr val="E2E2E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31"/>
          <p:cNvSpPr txBox="1"/>
          <p:nvPr>
            <p:ph idx="1" type="body"/>
          </p:nvPr>
        </p:nvSpPr>
        <p:spPr>
          <a:xfrm rot="5400000">
            <a:off x="8139547" y="2805546"/>
            <a:ext cx="6858000" cy="1246906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76767"/>
              </a:buClr>
              <a:buSzPts val="4100"/>
              <a:buNone/>
              <a:defRPr sz="4100">
                <a:solidFill>
                  <a:srgbClr val="676767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31"/>
          <p:cNvSpPr txBox="1"/>
          <p:nvPr>
            <p:ph idx="2" type="body"/>
          </p:nvPr>
        </p:nvSpPr>
        <p:spPr>
          <a:xfrm rot="5400000">
            <a:off x="3559968" y="-713581"/>
            <a:ext cx="4129087" cy="9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es">
  <p:cSld name="Título y texto verticale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>
            <p:ph idx="1" type="body"/>
          </p:nvPr>
        </p:nvSpPr>
        <p:spPr>
          <a:xfrm rot="-5400000">
            <a:off x="4602163" y="-869950"/>
            <a:ext cx="4829175" cy="940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32"/>
          <p:cNvSpPr/>
          <p:nvPr/>
        </p:nvSpPr>
        <p:spPr>
          <a:xfrm>
            <a:off x="0" y="1419225"/>
            <a:ext cx="1270800" cy="5438775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2"/>
          <p:cNvSpPr txBox="1"/>
          <p:nvPr>
            <p:ph type="title"/>
          </p:nvPr>
        </p:nvSpPr>
        <p:spPr>
          <a:xfrm rot="-5400000">
            <a:off x="-1774351" y="3197622"/>
            <a:ext cx="4829176" cy="12723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4C96"/>
              </a:buClr>
              <a:buSzPts val="4400"/>
              <a:buFont typeface="Century Gothic"/>
              <a:buNone/>
              <a:defRPr sz="4400">
                <a:solidFill>
                  <a:srgbClr val="024C9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2"/>
          <p:cNvSpPr/>
          <p:nvPr/>
        </p:nvSpPr>
        <p:spPr>
          <a:xfrm>
            <a:off x="1264765" y="1420793"/>
            <a:ext cx="795600" cy="543877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2"/>
          <p:cNvSpPr txBox="1"/>
          <p:nvPr>
            <p:ph idx="2" type="body"/>
          </p:nvPr>
        </p:nvSpPr>
        <p:spPr>
          <a:xfrm rot="-5400000">
            <a:off x="-757381" y="3455811"/>
            <a:ext cx="482918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800"/>
              <a:buNone/>
              <a:defRPr sz="2800">
                <a:solidFill>
                  <a:srgbClr val="3A383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6" name="Google Shape;14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66925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hyperlink" Target="http://drive.google.com/file/d/1vS2vCYMc26xmj8yrkDxTMWQ0rLhKYnCU/view" TargetMode="External"/><Relationship Id="rId5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"/>
          <p:cNvSpPr txBox="1"/>
          <p:nvPr>
            <p:ph type="ctrTitle"/>
          </p:nvPr>
        </p:nvSpPr>
        <p:spPr>
          <a:xfrm>
            <a:off x="3665275" y="1512200"/>
            <a:ext cx="4861500" cy="24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Gothic"/>
              <a:buNone/>
            </a:pPr>
            <a:r>
              <a:rPr lang="es-ES"/>
              <a:t>  RIS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Gothic"/>
              <a:buNone/>
            </a:pPr>
            <a:r>
              <a:rPr lang="es-ES" sz="2000"/>
              <a:t>organiza, recuerda y protege lo que importa</a:t>
            </a:r>
            <a:endParaRPr sz="2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55" name="Google Shape;155;p1"/>
          <p:cNvSpPr txBox="1"/>
          <p:nvPr>
            <p:ph idx="1" type="subTitle"/>
          </p:nvPr>
        </p:nvSpPr>
        <p:spPr>
          <a:xfrm>
            <a:off x="2502697" y="4742512"/>
            <a:ext cx="3240000" cy="969900"/>
          </a:xfrm>
          <a:prstGeom prst="rect">
            <a:avLst/>
          </a:prstGeom>
          <a:solidFill>
            <a:srgbClr val="171616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/>
              <a:t>Nombres: Claudio Arce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/>
              <a:t>	           Dylan Ramirez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/>
              <a:t>	           José Fuenzalida</a:t>
            </a:r>
            <a:endParaRPr/>
          </a:p>
        </p:txBody>
      </p:sp>
      <p:sp>
        <p:nvSpPr>
          <p:cNvPr id="156" name="Google Shape;156;p1"/>
          <p:cNvSpPr txBox="1"/>
          <p:nvPr/>
        </p:nvSpPr>
        <p:spPr>
          <a:xfrm>
            <a:off x="6428509" y="4742512"/>
            <a:ext cx="3240000" cy="969900"/>
          </a:xfrm>
          <a:prstGeom prst="rect">
            <a:avLst/>
          </a:prstGeom>
          <a:solidFill>
            <a:srgbClr val="171616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b="0" i="0" lang="es-ES" sz="1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Fecha: </a:t>
            </a:r>
            <a:r>
              <a:rPr lang="es-ES"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r>
            <a:r>
              <a:rPr b="0" i="0" lang="es-ES" sz="1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</a:t>
            </a:r>
            <a:r>
              <a:rPr lang="es-ES"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r>
            <a:r>
              <a:rPr b="0" i="0" lang="es-ES" sz="1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b="0" i="0" lang="es-ES" sz="1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Profesor: Álvaro Mellado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2927413" y="3367784"/>
            <a:ext cx="6337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b="1" i="0" lang="es-ES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APT – Ingeniería en Informática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150" y="1407847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>
            <p:ph type="title"/>
          </p:nvPr>
        </p:nvSpPr>
        <p:spPr>
          <a:xfrm>
            <a:off x="1075256" y="365124"/>
            <a:ext cx="10049943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s-ES" sz="3300"/>
              <a:t>DRIS</a:t>
            </a:r>
            <a:endParaRPr/>
          </a:p>
        </p:txBody>
      </p:sp>
      <p:sp>
        <p:nvSpPr>
          <p:cNvPr id="165" name="Google Shape;165;p2"/>
          <p:cNvSpPr txBox="1"/>
          <p:nvPr>
            <p:ph idx="1" type="body"/>
          </p:nvPr>
        </p:nvSpPr>
        <p:spPr>
          <a:xfrm>
            <a:off x="1066800" y="2036625"/>
            <a:ext cx="10051200" cy="3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s-ES" sz="1870">
                <a:latin typeface="Arial"/>
                <a:ea typeface="Arial"/>
                <a:cs typeface="Arial"/>
                <a:sym typeface="Arial"/>
              </a:rPr>
              <a:t>DRIS es una aplicación móvil que centraliza documentos importantes y los convierte en información clara mediante inteligencia artificial. </a:t>
            </a:r>
            <a:endParaRPr sz="187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s-ES" sz="1870"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s-ES" sz="1870">
                <a:latin typeface="Arial"/>
                <a:ea typeface="Arial"/>
                <a:cs typeface="Arial"/>
                <a:sym typeface="Arial"/>
              </a:rPr>
              <a:t>sólo</a:t>
            </a:r>
            <a:r>
              <a:rPr lang="es-ES" sz="1870">
                <a:latin typeface="Arial"/>
                <a:ea typeface="Arial"/>
                <a:cs typeface="Arial"/>
                <a:sym typeface="Arial"/>
              </a:rPr>
              <a:t> almacena archivos: </a:t>
            </a:r>
            <a:endParaRPr sz="187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s-ES" sz="1870">
                <a:latin typeface="Arial"/>
                <a:ea typeface="Arial"/>
                <a:cs typeface="Arial"/>
                <a:sym typeface="Arial"/>
              </a:rPr>
              <a:t>los analiza, identifica fechas, montos, coberturas, ayuda a controlar gastos y vencimientos. </a:t>
            </a:r>
            <a:endParaRPr sz="187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s-ES" sz="1870">
                <a:latin typeface="Arial"/>
                <a:ea typeface="Arial"/>
                <a:cs typeface="Arial"/>
                <a:sym typeface="Arial"/>
              </a:rPr>
              <a:t>Todo en un entorno seguro, móvil y fácil de usar.</a:t>
            </a:r>
            <a:endParaRPr sz="187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35041aa21_0_1"/>
          <p:cNvSpPr txBox="1"/>
          <p:nvPr>
            <p:ph type="title"/>
          </p:nvPr>
        </p:nvSpPr>
        <p:spPr>
          <a:xfrm>
            <a:off x="1075256" y="365124"/>
            <a:ext cx="1005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s-ES" sz="3300"/>
              <a:t>Problema detectado</a:t>
            </a:r>
            <a:endParaRPr/>
          </a:p>
        </p:txBody>
      </p:sp>
      <p:sp>
        <p:nvSpPr>
          <p:cNvPr id="172" name="Google Shape;172;g3a35041aa21_0_1"/>
          <p:cNvSpPr txBox="1"/>
          <p:nvPr>
            <p:ph idx="1" type="body"/>
          </p:nvPr>
        </p:nvSpPr>
        <p:spPr>
          <a:xfrm>
            <a:off x="1066800" y="2036625"/>
            <a:ext cx="4889400" cy="3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Las personas hoy manejan múltiples documentos importantes: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Seguros automotrices, de vida y de viaje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Servicios de streaming, telefonía y membresías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Contratos de salud (AFP, Isapre)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Pasajes de avión y coberturas asociadas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Garantías, boletas, suscripciones digitales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s-E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DRIS nace para resolver esta problemática real y cotidiana.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a35041aa21_0_1"/>
          <p:cNvSpPr txBox="1"/>
          <p:nvPr>
            <p:ph idx="1" type="body"/>
          </p:nvPr>
        </p:nvSpPr>
        <p:spPr>
          <a:xfrm>
            <a:off x="6192975" y="2036625"/>
            <a:ext cx="4591500" cy="3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Estos documentos están en correos, fotos, PDFs y distintas plataformas.</a:t>
            </a:r>
            <a:br>
              <a:rPr lang="es-E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E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Esto genera: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Desorden e inaccesibilidad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Desconocimiento de coberturas y beneficios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Pagos duplicados o innecesarios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Vencimientos olvidados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Pérdida de tiempo en emergencias</a:t>
            </a:r>
            <a:br>
              <a:rPr lang="es-E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br>
              <a:rPr lang="es-E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27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3a35041aa21_0_1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/>
          <p:cNvSpPr txBox="1"/>
          <p:nvPr>
            <p:ph type="title"/>
          </p:nvPr>
        </p:nvSpPr>
        <p:spPr>
          <a:xfrm>
            <a:off x="1075256" y="365124"/>
            <a:ext cx="10049943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</a:pPr>
            <a:r>
              <a:rPr lang="es-ES" sz="5000"/>
              <a:t>¿Qué es DRIS?</a:t>
            </a:r>
            <a:endParaRPr sz="4300"/>
          </a:p>
        </p:txBody>
      </p:sp>
      <p:sp>
        <p:nvSpPr>
          <p:cNvPr id="180" name="Google Shape;180;p3"/>
          <p:cNvSpPr txBox="1"/>
          <p:nvPr>
            <p:ph idx="1" type="body"/>
          </p:nvPr>
        </p:nvSpPr>
        <p:spPr>
          <a:xfrm>
            <a:off x="1075256" y="2396663"/>
            <a:ext cx="10050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/>
              <a:t>DRIS es una billetera digital inteligente que organiza documentos, los interpreta con IA y ayuda al usuario a comprender sus gastos, coberturas y fechas clave.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/>
              <a:t>Diseñada mobile-first, prioriza accesibilidad, rapidez y seguridad.</a:t>
            </a:r>
            <a:endParaRPr sz="24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3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34dd9a60f_0_0"/>
          <p:cNvSpPr txBox="1"/>
          <p:nvPr>
            <p:ph type="title"/>
          </p:nvPr>
        </p:nvSpPr>
        <p:spPr>
          <a:xfrm>
            <a:off x="1075256" y="365124"/>
            <a:ext cx="10050000" cy="1296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/>
              <a:t>Inteligencia Artificial</a:t>
            </a:r>
            <a:endParaRPr sz="5000"/>
          </a:p>
        </p:txBody>
      </p:sp>
      <p:sp>
        <p:nvSpPr>
          <p:cNvPr id="187" name="Google Shape;187;g3a34dd9a60f_0_0"/>
          <p:cNvSpPr txBox="1"/>
          <p:nvPr>
            <p:ph idx="1" type="body"/>
          </p:nvPr>
        </p:nvSpPr>
        <p:spPr>
          <a:xfrm>
            <a:off x="1066802" y="1690700"/>
            <a:ext cx="5024700" cy="427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00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s-ES"/>
              <a:t>La IA de DRIS permite: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ES"/>
              <a:t>Leer documentos detectando texto, fechas, montos y cláusulas clave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ES"/>
              <a:t>Crear resúmenes explicativos de documentos complejos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ES"/>
              <a:t>Responder preguntas del usuario sobre sus propios documentos.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ES"/>
              <a:t>Clasificar automáticamente el documento subido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ES"/>
              <a:t>Identificar gastos recurrentes y conceptos clave</a:t>
            </a:r>
            <a:endParaRPr/>
          </a:p>
        </p:txBody>
      </p:sp>
      <p:sp>
        <p:nvSpPr>
          <p:cNvPr id="188" name="Google Shape;188;g3a34dd9a60f_0_0"/>
          <p:cNvSpPr txBox="1"/>
          <p:nvPr>
            <p:ph idx="1" type="body"/>
          </p:nvPr>
        </p:nvSpPr>
        <p:spPr>
          <a:xfrm>
            <a:off x="6091502" y="1690700"/>
            <a:ext cx="5024700" cy="427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500"/>
              <a:t>Ejemplos: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00"/>
              <a:t>¿Cuánto cubre mi seguro de viaje si se retrasa el vuelo?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500"/>
              <a:t>¿Cuánto gasto al mes en servicios de streaming?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00"/>
              <a:t>¿Qué documentos vencen pronto?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g3a34dd9a60f_0_0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/>
          <p:nvPr>
            <p:ph type="title"/>
          </p:nvPr>
        </p:nvSpPr>
        <p:spPr>
          <a:xfrm>
            <a:off x="1075256" y="365124"/>
            <a:ext cx="10049943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</a:pPr>
            <a:r>
              <a:rPr lang="es-ES" sz="4300"/>
              <a:t>Gestión de Gastos y Contratos</a:t>
            </a:r>
            <a:endParaRPr sz="4300"/>
          </a:p>
        </p:txBody>
      </p:sp>
      <p:sp>
        <p:nvSpPr>
          <p:cNvPr id="195" name="Google Shape;195;p6"/>
          <p:cNvSpPr txBox="1"/>
          <p:nvPr>
            <p:ph idx="1" type="body"/>
          </p:nvPr>
        </p:nvSpPr>
        <p:spPr>
          <a:xfrm>
            <a:off x="1075256" y="2251075"/>
            <a:ext cx="4812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400">
                <a:latin typeface="Arial"/>
                <a:ea typeface="Arial"/>
                <a:cs typeface="Arial"/>
                <a:sym typeface="Arial"/>
              </a:rPr>
              <a:t>DRIS identifica montos asociados a: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400">
                <a:latin typeface="Arial"/>
                <a:ea typeface="Arial"/>
                <a:cs typeface="Arial"/>
                <a:sym typeface="Arial"/>
              </a:rPr>
              <a:t>Seguros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400">
                <a:latin typeface="Arial"/>
                <a:ea typeface="Arial"/>
                <a:cs typeface="Arial"/>
                <a:sym typeface="Arial"/>
              </a:rPr>
              <a:t>Servicios digitales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400">
                <a:latin typeface="Arial"/>
                <a:ea typeface="Arial"/>
                <a:cs typeface="Arial"/>
                <a:sym typeface="Arial"/>
              </a:rPr>
              <a:t>Telefonía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400">
                <a:latin typeface="Arial"/>
                <a:ea typeface="Arial"/>
                <a:cs typeface="Arial"/>
                <a:sym typeface="Arial"/>
              </a:rPr>
              <a:t>Membresías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400">
                <a:latin typeface="Arial"/>
                <a:ea typeface="Arial"/>
                <a:cs typeface="Arial"/>
                <a:sym typeface="Arial"/>
              </a:rPr>
              <a:t>Suscripciones diversas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>
            <p:ph idx="1" type="body"/>
          </p:nvPr>
        </p:nvSpPr>
        <p:spPr>
          <a:xfrm>
            <a:off x="5842731" y="2251075"/>
            <a:ext cx="4812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400">
                <a:latin typeface="Arial"/>
                <a:ea typeface="Arial"/>
                <a:cs typeface="Arial"/>
                <a:sym typeface="Arial"/>
              </a:rPr>
              <a:t>Genera automáticamente un panel mensual de gastos, permitiendo: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400">
                <a:latin typeface="Arial"/>
                <a:ea typeface="Arial"/>
                <a:cs typeface="Arial"/>
                <a:sym typeface="Arial"/>
              </a:rPr>
              <a:t>Control real de finanzas personales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400">
                <a:latin typeface="Arial"/>
                <a:ea typeface="Arial"/>
                <a:cs typeface="Arial"/>
                <a:sym typeface="Arial"/>
              </a:rPr>
              <a:t>Detección de servicios no utilizados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6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 txBox="1"/>
          <p:nvPr>
            <p:ph type="title"/>
          </p:nvPr>
        </p:nvSpPr>
        <p:spPr>
          <a:xfrm>
            <a:off x="1075256" y="365124"/>
            <a:ext cx="10049943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</a:pPr>
            <a:r>
              <a:rPr lang="es-ES"/>
              <a:t>Seguridad</a:t>
            </a:r>
            <a:endParaRPr/>
          </a:p>
        </p:txBody>
      </p:sp>
      <p:sp>
        <p:nvSpPr>
          <p:cNvPr id="203" name="Google Shape;203;p7"/>
          <p:cNvSpPr txBox="1"/>
          <p:nvPr>
            <p:ph idx="1" type="body"/>
          </p:nvPr>
        </p:nvSpPr>
        <p:spPr>
          <a:xfrm>
            <a:off x="1075250" y="2134725"/>
            <a:ext cx="92328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latin typeface="Arial"/>
                <a:ea typeface="Arial"/>
                <a:cs typeface="Arial"/>
                <a:sym typeface="Arial"/>
              </a:rPr>
              <a:t>DRIS fue diseñado con un enfoque de seguridad desde el inicio: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Arial"/>
                <a:ea typeface="Arial"/>
                <a:cs typeface="Arial"/>
                <a:sym typeface="Arial"/>
              </a:rPr>
              <a:t>Firebase Authentication con verificación de identidad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Arial"/>
                <a:ea typeface="Arial"/>
                <a:cs typeface="Arial"/>
                <a:sym typeface="Arial"/>
              </a:rPr>
              <a:t>Firestore con reglas estrictas por usuario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Arial"/>
                <a:ea typeface="Arial"/>
                <a:cs typeface="Arial"/>
                <a:sym typeface="Arial"/>
              </a:rPr>
              <a:t>Firebase Storage con cifrado de archivos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Arial"/>
                <a:ea typeface="Arial"/>
                <a:cs typeface="Arial"/>
                <a:sym typeface="Arial"/>
              </a:rPr>
              <a:t>Comunicación cifrada de extremo a extremo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Arial"/>
                <a:ea typeface="Arial"/>
                <a:cs typeface="Arial"/>
                <a:sym typeface="Arial"/>
              </a:rPr>
              <a:t>Auditoría de accesos y acciones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Arial"/>
                <a:ea typeface="Arial"/>
                <a:cs typeface="Arial"/>
                <a:sym typeface="Arial"/>
              </a:rPr>
              <a:t>Tokens JWT gestionados por Firebase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latin typeface="Arial"/>
                <a:ea typeface="Arial"/>
                <a:cs typeface="Arial"/>
                <a:sym typeface="Arial"/>
              </a:rPr>
              <a:t>Seguridad apta para documentos sensibles.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7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 txBox="1"/>
          <p:nvPr>
            <p:ph type="title"/>
          </p:nvPr>
        </p:nvSpPr>
        <p:spPr>
          <a:xfrm>
            <a:off x="1075256" y="365124"/>
            <a:ext cx="10049943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</a:pPr>
            <a:r>
              <a:rPr lang="es-ES" sz="5000"/>
              <a:t>Arquitectura Técnica</a:t>
            </a:r>
            <a:endParaRPr sz="5000"/>
          </a:p>
        </p:txBody>
      </p:sp>
      <p:sp>
        <p:nvSpPr>
          <p:cNvPr id="210" name="Google Shape;210;p8"/>
          <p:cNvSpPr txBox="1"/>
          <p:nvPr>
            <p:ph idx="1" type="body"/>
          </p:nvPr>
        </p:nvSpPr>
        <p:spPr>
          <a:xfrm>
            <a:off x="1075246" y="2114850"/>
            <a:ext cx="4767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Arquitectura ligera y escalable: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Frontend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Ionic + Angular + Capacitor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Mobile-first, eficiente, multiplataforma, óptimo para despliegue rápido.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>
            <p:ph idx="1" type="body"/>
          </p:nvPr>
        </p:nvSpPr>
        <p:spPr>
          <a:xfrm>
            <a:off x="1075250" y="4084950"/>
            <a:ext cx="4767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Backend y persistencia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Firebase (Firestore, Storage, Authentication)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Ya escalado, seguro y sin necesidad de servidores propios.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5724825" y="2114850"/>
            <a:ext cx="6093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Inteligencia Artificial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OpenAI APIs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OCR mejorado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Resúmenes contextuales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Clasificación inteligente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Eliminamos servidores dedicados → menores costos, más estabilidad.</a:t>
            </a:r>
            <a:endParaRPr/>
          </a:p>
        </p:txBody>
      </p:sp>
      <p:pic>
        <p:nvPicPr>
          <p:cNvPr id="213" name="Google Shape;213;p8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 txBox="1"/>
          <p:nvPr>
            <p:ph type="title"/>
          </p:nvPr>
        </p:nvSpPr>
        <p:spPr>
          <a:xfrm>
            <a:off x="871831" y="365124"/>
            <a:ext cx="1005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</a:pPr>
            <a:r>
              <a:rPr lang="es-ES" sz="5000"/>
              <a:t>Evolución del Proyecto</a:t>
            </a:r>
            <a:endParaRPr sz="5000"/>
          </a:p>
        </p:txBody>
      </p:sp>
      <p:sp>
        <p:nvSpPr>
          <p:cNvPr id="219" name="Google Shape;219;p9"/>
          <p:cNvSpPr txBox="1"/>
          <p:nvPr>
            <p:ph idx="1" type="body"/>
          </p:nvPr>
        </p:nvSpPr>
        <p:spPr>
          <a:xfrm>
            <a:off x="871825" y="2743501"/>
            <a:ext cx="104568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Se descartó Django + PostgreSQL por complejidad y costo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Migración a Firebase para simplificar arquitectura y aumentar velocidad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Redefinición de flujos de usuario basados en pruebas internas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Optimización del uso de IA para reducir costos por token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Mejoras en la estructura documental y roles familiares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Uso de Jira para seguimiento real de sprints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9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"/>
          <p:cNvSpPr txBox="1"/>
          <p:nvPr>
            <p:ph type="title"/>
          </p:nvPr>
        </p:nvSpPr>
        <p:spPr>
          <a:xfrm>
            <a:off x="1075256" y="365124"/>
            <a:ext cx="10049943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</a:pPr>
            <a:r>
              <a:rPr lang="es-ES" sz="5000">
                <a:latin typeface="Arial"/>
                <a:ea typeface="Arial"/>
                <a:cs typeface="Arial"/>
                <a:sym typeface="Arial"/>
              </a:rPr>
              <a:t>Funcionalidades principales</a:t>
            </a:r>
            <a:endParaRPr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"/>
          <p:cNvSpPr txBox="1"/>
          <p:nvPr>
            <p:ph idx="1" type="body"/>
          </p:nvPr>
        </p:nvSpPr>
        <p:spPr>
          <a:xfrm>
            <a:off x="748953" y="1834084"/>
            <a:ext cx="10050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/>
              <a:t>Subida de documentos en PDF o imagen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t/>
            </a:r>
            <a:endParaRPr sz="1700"/>
          </a:p>
        </p:txBody>
      </p:sp>
      <p:pic>
        <p:nvPicPr>
          <p:cNvPr id="227" name="Google Shape;22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125" y="2524734"/>
            <a:ext cx="2114927" cy="3580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2865" y="2524734"/>
            <a:ext cx="1960747" cy="3580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0424" y="2614534"/>
            <a:ext cx="3438525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" title="Imagen de WhatsApp 2025-11-14 a las 12.31.25_28f3eb4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36a075c3b_0_17"/>
          <p:cNvSpPr txBox="1"/>
          <p:nvPr>
            <p:ph type="title"/>
          </p:nvPr>
        </p:nvSpPr>
        <p:spPr>
          <a:xfrm>
            <a:off x="1075253" y="365125"/>
            <a:ext cx="53685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0000"/>
              <a:buFont typeface="Century Gothic"/>
              <a:buNone/>
            </a:pPr>
            <a:r>
              <a:rPr lang="es-ES" sz="5000">
                <a:latin typeface="Arial"/>
                <a:ea typeface="Arial"/>
                <a:cs typeface="Arial"/>
                <a:sym typeface="Arial"/>
              </a:rPr>
              <a:t>Funcionalidades principales</a:t>
            </a:r>
            <a:endParaRPr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a36a075c3b_0_17"/>
          <p:cNvSpPr txBox="1"/>
          <p:nvPr>
            <p:ph idx="1" type="body"/>
          </p:nvPr>
        </p:nvSpPr>
        <p:spPr>
          <a:xfrm>
            <a:off x="728225" y="2286311"/>
            <a:ext cx="5163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/>
              <a:t>Recordatorios automáticos de vencimientos</a:t>
            </a:r>
            <a:endParaRPr sz="1700"/>
          </a:p>
        </p:txBody>
      </p:sp>
      <p:pic>
        <p:nvPicPr>
          <p:cNvPr id="237" name="Google Shape;237;g3a36a075c3b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1950" y="203825"/>
            <a:ext cx="3718200" cy="59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a36a075c3b_0_17" title="Imagen de WhatsApp 2025-11-14 a las 12.31.25_28f3eb4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36a075c3b_0_22"/>
          <p:cNvSpPr txBox="1"/>
          <p:nvPr>
            <p:ph type="title"/>
          </p:nvPr>
        </p:nvSpPr>
        <p:spPr>
          <a:xfrm>
            <a:off x="1075256" y="365124"/>
            <a:ext cx="1005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</a:pPr>
            <a:r>
              <a:rPr lang="es-ES" sz="5000">
                <a:latin typeface="Arial"/>
                <a:ea typeface="Arial"/>
                <a:cs typeface="Arial"/>
                <a:sym typeface="Arial"/>
              </a:rPr>
              <a:t>Funcionalidades principales</a:t>
            </a:r>
            <a:endParaRPr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a36a075c3b_0_22"/>
          <p:cNvSpPr txBox="1"/>
          <p:nvPr>
            <p:ph idx="1" type="body"/>
          </p:nvPr>
        </p:nvSpPr>
        <p:spPr>
          <a:xfrm>
            <a:off x="769678" y="2308834"/>
            <a:ext cx="100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/>
              <a:t>Panel de gastos mensuales</a:t>
            </a:r>
            <a:endParaRPr sz="1800"/>
          </a:p>
        </p:txBody>
      </p:sp>
      <p:pic>
        <p:nvPicPr>
          <p:cNvPr id="245" name="Google Shape;245;g3a36a075c3b_0_22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a36a075c3b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5778" y="1511725"/>
            <a:ext cx="2157800" cy="473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36a075c3b_0_27"/>
          <p:cNvSpPr txBox="1"/>
          <p:nvPr>
            <p:ph type="title"/>
          </p:nvPr>
        </p:nvSpPr>
        <p:spPr>
          <a:xfrm>
            <a:off x="794706" y="396299"/>
            <a:ext cx="1005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</a:pPr>
            <a:r>
              <a:rPr lang="es-ES" sz="4000">
                <a:latin typeface="Arial"/>
                <a:ea typeface="Arial"/>
                <a:cs typeface="Arial"/>
                <a:sym typeface="Arial"/>
              </a:rPr>
              <a:t>Funcionalidades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</a:pPr>
            <a:r>
              <a:rPr lang="es-ES" sz="4000">
                <a:latin typeface="Arial"/>
                <a:ea typeface="Arial"/>
                <a:cs typeface="Arial"/>
                <a:sym typeface="Arial"/>
              </a:rPr>
              <a:t> principales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g3a36a075c3b_0_27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a36a075c3b_0_27" title="DRIS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8200" y="1401350"/>
            <a:ext cx="2215604" cy="4927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 txBox="1"/>
          <p:nvPr>
            <p:ph type="title"/>
          </p:nvPr>
        </p:nvSpPr>
        <p:spPr>
          <a:xfrm>
            <a:off x="1071031" y="-1"/>
            <a:ext cx="1005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</a:pPr>
            <a:r>
              <a:rPr lang="es-ES" sz="4800"/>
              <a:t>Modelo de Subscripción</a:t>
            </a:r>
            <a:endParaRPr sz="4800"/>
          </a:p>
        </p:txBody>
      </p:sp>
      <p:sp>
        <p:nvSpPr>
          <p:cNvPr id="259" name="Google Shape;259;p10"/>
          <p:cNvSpPr txBox="1"/>
          <p:nvPr/>
        </p:nvSpPr>
        <p:spPr>
          <a:xfrm>
            <a:off x="1071025" y="2323650"/>
            <a:ext cx="2356200" cy="22107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Free: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documentos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Funciones básicas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 IA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 txBox="1"/>
          <p:nvPr/>
        </p:nvSpPr>
        <p:spPr>
          <a:xfrm>
            <a:off x="4665450" y="2323650"/>
            <a:ext cx="2861100" cy="22107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Standard — $2.990 CLP: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Categorización inteligente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 documentos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IA limitada: resúmenes cortos y OCR básico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8764825" y="2323650"/>
            <a:ext cx="2356200" cy="22107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Premium — $5.990 CLP: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IA avanzada con Q&amp;A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Resúmenes completos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Panel financiero optimizado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200+ documentos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Prioridad y copias de seguridad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10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/>
          <p:nvPr>
            <p:ph type="title"/>
          </p:nvPr>
        </p:nvSpPr>
        <p:spPr>
          <a:xfrm>
            <a:off x="1075256" y="365124"/>
            <a:ext cx="10049943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</a:pPr>
            <a:r>
              <a:rPr lang="es-ES" sz="4500"/>
              <a:t>Viabilidad Técnica y Económica</a:t>
            </a:r>
            <a:endParaRPr sz="4500"/>
          </a:p>
        </p:txBody>
      </p:sp>
      <p:sp>
        <p:nvSpPr>
          <p:cNvPr id="268" name="Google Shape;268;p11"/>
          <p:cNvSpPr txBox="1"/>
          <p:nvPr>
            <p:ph idx="1" type="body"/>
          </p:nvPr>
        </p:nvSpPr>
        <p:spPr>
          <a:xfrm>
            <a:off x="981218" y="2071750"/>
            <a:ext cx="40167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/>
              <a:t>Infraestructura a bajo costo gracias a Firebase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/>
              <a:t>IA escalable según volumen real de usuarios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/>
              <a:t>Punto de equilibrio cercano: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/>
              <a:t>300 usuarios Premium o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/>
              <a:t>800 usuarios Standard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/>
              <a:t>Alto potencial de crecimiento mensual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 sz="1200"/>
          </a:p>
        </p:txBody>
      </p:sp>
      <p:pic>
        <p:nvPicPr>
          <p:cNvPr id="269" name="Google Shape;269;p11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 txBox="1"/>
          <p:nvPr>
            <p:ph idx="1" type="body"/>
          </p:nvPr>
        </p:nvSpPr>
        <p:spPr>
          <a:xfrm>
            <a:off x="6001293" y="2071750"/>
            <a:ext cx="4016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/>
              <a:t>Posibilidad de expansión futura: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/>
              <a:t>Exportar documentos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/>
              <a:t>Link compartido seguro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/>
              <a:t>Integración con aseguradoras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35041aa21_0_34"/>
          <p:cNvSpPr txBox="1"/>
          <p:nvPr>
            <p:ph type="title"/>
          </p:nvPr>
        </p:nvSpPr>
        <p:spPr>
          <a:xfrm>
            <a:off x="1075256" y="365124"/>
            <a:ext cx="1005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</a:pPr>
            <a:r>
              <a:rPr lang="es-ES" sz="4500"/>
              <a:t>Conclusión</a:t>
            </a:r>
            <a:endParaRPr sz="4500"/>
          </a:p>
        </p:txBody>
      </p:sp>
      <p:sp>
        <p:nvSpPr>
          <p:cNvPr id="276" name="Google Shape;276;g3a35041aa21_0_34"/>
          <p:cNvSpPr txBox="1"/>
          <p:nvPr>
            <p:ph idx="1" type="body"/>
          </p:nvPr>
        </p:nvSpPr>
        <p:spPr>
          <a:xfrm>
            <a:off x="1075250" y="2363198"/>
            <a:ext cx="97449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ES" sz="2200"/>
              <a:t>DRIS organiza, interpreta y protege documentos importantes.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ES" sz="2200"/>
              <a:t>Combina IA, seguridad, análisis financiero y accesibilidad móvil.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ES" sz="2200"/>
              <a:t>Es una solución con impacto real en la vida cotidiana y con potencial de negocio sólido, escalable y sustentado en decisiones técnicas correctas.</a:t>
            </a:r>
            <a:endParaRPr sz="2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 sz="2200"/>
          </a:p>
        </p:txBody>
      </p:sp>
      <p:pic>
        <p:nvPicPr>
          <p:cNvPr id="277" name="Google Shape;277;g3a35041aa21_0_34" title="Imagen de WhatsApp 2025-11-14 a las 12.31.25_28f3eb4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375" y="5712400"/>
            <a:ext cx="1170624" cy="117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2025-09-05T00:47:16Z</dcterms:created>
  <dc:creator>DYLAN ANTOINE RAMIREZ UBILLA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0x0101000A033B31DA58764B9C95249EE3674570</vt:lpwstr>
  </property>
</Properties>
</file>